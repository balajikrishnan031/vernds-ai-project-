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US"/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US"/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US" dirty="0"/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IDEA TITLE &amp; 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500" b="1">
                <a:solidFill>
                  <a:srgbClr val="1F2937"/>
                </a:solidFill>
              </a:defRPr>
            </a:pPr>
            <a:r>
              <a:t>IDEA TITLE: SAMVEDNA-AI (14566 Trauma Triage Engine)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Proposed Solution Overview:</a:t>
            </a:r>
          </a:p>
          <a:p>
            <a:pPr lvl="1">
              <a:defRPr sz="1300"/>
            </a:pPr>
            <a:r>
              <a:t>  - Real-time AI module integrated into NHAA 14566 PBX telephony streams (SIP/RTSP), IVRS, Chatbot &amp; Mobile App.</a:t>
            </a:r>
          </a:p>
          <a:p>
            <a:pPr lvl="1">
              <a:defRPr sz="1300"/>
            </a:pPr>
            <a:r>
              <a:t>  - Evaluates voice prosody (pitch, tremor, pauses) and text narrative during live call contact.</a:t>
            </a:r>
          </a:p>
          <a:p>
            <a:pPr lvl="1">
              <a:defRPr sz="1300"/>
            </a:pPr>
            <a:r>
              <a:t>  - Calculates standardized Stress Vulnerability Index (SVI: 0-100) across 4 Risk Tiers (Low, Moderate, High, Critical).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How It Addresses The Problem:</a:t>
            </a:r>
          </a:p>
          <a:p>
            <a:pPr lvl="1">
              <a:defRPr sz="1300"/>
            </a:pPr>
            <a:r>
              <a:t>  - Eliminates human triaging delay; identifies acute trauma &amp; suicidal ideation in real-time.</a:t>
            </a:r>
          </a:p>
          <a:p>
            <a:pPr lvl="1">
              <a:defRPr sz="1300"/>
            </a:pPr>
            <a:r>
              <a:t>  - Auto-extracts victim address/location (NER) and crime category from speech narrative.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Innovation &amp; Uniqueness:</a:t>
            </a:r>
          </a:p>
          <a:p>
            <a:pPr lvl="1">
              <a:defRPr sz="1300"/>
            </a:pPr>
            <a:r>
              <a:t>  - Instant SIP Auto-Bridge to Tele-MANAS (14416) psychiatric hotline in &lt; 3 seconds.</a:t>
            </a:r>
          </a:p>
          <a:p>
            <a:pPr lvl="1">
              <a:defRPr sz="1300"/>
            </a:pPr>
            <a:r>
              <a:t>  - Webhook dispatch to 112 Police ERSS &amp; Witness Protection Scheme (PoA Sec 15A).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500" b="1">
                <a:solidFill>
                  <a:srgbClr val="1F2937"/>
                </a:solidFill>
              </a:defRPr>
            </a:pPr>
            <a:r>
              <a:t>IDEA TITLE: SAMVEDNA-AI (14566 Trauma Triage Engine)</a:t>
            </a:r>
            <a:endParaRPr lang="en-US" dirty="0">
              <a:solidFill>
                <a:schemeClr val="bg1"/>
              </a:solidFill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Proposed Solution Overview:</a:t>
            </a:r>
          </a:p>
          <a:p>
            <a:pPr lvl="1">
              <a:defRPr sz="1300"/>
            </a:pPr>
            <a:r>
              <a:t>  - Real-time AI module integrated into NHAA 14566 PBX telephony streams (SIP/RTSP), IVRS, Chatbot &amp; Mobile App.</a:t>
            </a:r>
          </a:p>
          <a:p>
            <a:pPr lvl="1">
              <a:defRPr sz="1300"/>
            </a:pPr>
            <a:r>
              <a:t>  - Evaluates voice prosody (pitch, tremor, pauses) and text narrative during live call contact.</a:t>
            </a:r>
          </a:p>
          <a:p>
            <a:pPr lvl="1">
              <a:defRPr sz="1300"/>
            </a:pPr>
            <a:r>
              <a:t>  - Calculates standardized Stress Vulnerability Index (SVI: 0-100) across 4 Risk Tiers (Low, Moderate, High, Critical).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How It Addresses The Problem:</a:t>
            </a:r>
          </a:p>
          <a:p>
            <a:pPr lvl="1">
              <a:defRPr sz="1300"/>
            </a:pPr>
            <a:r>
              <a:t>  - Eliminates human triaging delay; identifies acute trauma &amp; suicidal ideation in real-time.</a:t>
            </a:r>
          </a:p>
          <a:p>
            <a:pPr lvl="1">
              <a:defRPr sz="1300"/>
            </a:pPr>
            <a:r>
              <a:t>  - Auto-extracts victim address/location (NER) and crime category from speech narrative.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Innovation &amp; Uniqueness:</a:t>
            </a:r>
          </a:p>
          <a:p>
            <a:pPr lvl="1">
              <a:defRPr sz="1300"/>
            </a:pPr>
            <a:r>
              <a:t>  - Instant SIP Auto-Bridge to Tele-MANAS (14416) psychiatric hotline in &lt; 3 seconds.</a:t>
            </a:r>
          </a:p>
          <a:p>
            <a:pPr lvl="1">
              <a:defRPr sz="1300"/>
            </a:pPr>
            <a:r>
              <a:t>  - Webhook dispatch to 112 Police ERSS &amp; Witness Protection Scheme (PoA Sec 15A).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IDEA TITLE: SAMVEDNA-AI (14566 Trauma Triage Engine)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Proposed Solution Overview:</a:t>
            </a:r>
          </a:p>
          <a:p>
            <a:pPr lvl="1">
              <a:defRPr sz="1300"/>
            </a:pPr>
            <a:r>
              <a:t>  - Real-time AI module integrated into NHAA 14566 PBX telephony streams (SIP/RTSP), IVRS, Chatbot &amp; Mobile App.</a:t>
            </a:r>
          </a:p>
          <a:p>
            <a:pPr lvl="1">
              <a:defRPr sz="1300"/>
            </a:pPr>
            <a:r>
              <a:t>  - Evaluates voice prosody (pitch, tremor, pauses) and text narrative during live call contact.</a:t>
            </a:r>
          </a:p>
          <a:p>
            <a:pPr lvl="1">
              <a:defRPr sz="1300"/>
            </a:pPr>
            <a:r>
              <a:t>  - Calculates standardized Stress Vulnerability Index (SVI: 0-100) across 4 Risk Tiers (Low, Moderate, High, Critical).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How It Addresses The Problem:</a:t>
            </a:r>
          </a:p>
          <a:p>
            <a:pPr lvl="1">
              <a:defRPr sz="1300"/>
            </a:pPr>
            <a:r>
              <a:t>  - Eliminates human triaging delay; identifies acute trauma &amp; suicidal ideation in real-time.</a:t>
            </a:r>
          </a:p>
          <a:p>
            <a:pPr lvl="1">
              <a:defRPr sz="1300"/>
            </a:pPr>
            <a:r>
              <a:t>  - Auto-extracts victim address/location (NER) and crime category from speech narrative.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Innovation &amp; Uniqueness:</a:t>
            </a:r>
          </a:p>
          <a:p>
            <a:pPr lvl="1">
              <a:defRPr sz="1300"/>
            </a:pPr>
            <a:r>
              <a:t>  - Instant SIP Auto-Bridge to Tele-MANAS (14416) psychiatric hotline in &lt; 3 seconds.</a:t>
            </a:r>
          </a:p>
          <a:p>
            <a:pPr lvl="1">
              <a:defRPr sz="1300"/>
            </a:pPr>
            <a:r>
              <a:t>  - Webhook dispatch to 112 Police ERSS &amp; Witness Protection Scheme (PoA Sec 15A).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500" b="1">
                <a:solidFill>
                  <a:srgbClr val="1F2937"/>
                </a:solidFill>
              </a:defRPr>
            </a:pPr>
            <a:r>
              <a:t>TECHNICAL ARCHITECTURE &amp; METHODOLOGY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Technology Stack Used:</a:t>
            </a:r>
          </a:p>
          <a:p>
            <a:pPr lvl="1">
              <a:defRPr sz="1300"/>
            </a:pPr>
            <a:r>
              <a:t>  - Backend &amp; Telephony: Node.js, Express, RTSP/WebRTC SIP Stream Receiver, WebSockets.</a:t>
            </a:r>
          </a:p>
          <a:p>
            <a:pPr lvl="1">
              <a:defRPr sz="1300"/>
            </a:pPr>
            <a:r>
              <a:t>  - Voice &amp; Speech Analytics: Web Audio API, Librosa (F0 Pitch Variance, Jitter, Pause Ratio).</a:t>
            </a:r>
          </a:p>
          <a:p>
            <a:pPr lvl="1">
              <a:defRPr sz="1300"/>
            </a:pPr>
            <a:r>
              <a:t>  - NLP &amp; AI Models: Fine-tuned IndicBERT, Whisper ASR, Named Entity Recognition (NER).</a:t>
            </a:r>
          </a:p>
          <a:p>
            <a:pPr lvl="1">
              <a:defRPr sz="1300"/>
            </a:pPr>
            <a:r>
              <a:t>  - Frontend &amp; GIS: HTML5 Glassmorphism, Leaflet.js Heatmap, Chart.js Analytics.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Implementation Methodology:</a:t>
            </a:r>
          </a:p>
          <a:p>
            <a:pPr lvl="1">
              <a:defRPr sz="1300"/>
            </a:pPr>
            <a:r>
              <a:t>  - Step 1: Ingest live 20ms audio buffer from 14566 Govt PBX Telephony gateway.</a:t>
            </a:r>
          </a:p>
          <a:p>
            <a:pPr lvl="1">
              <a:defRPr sz="1300"/>
            </a:pPr>
            <a:r>
              <a:t>  - Step 2: Dual-pass extraction (Acoustic Biomarkers + Multilingual Text Parsing).</a:t>
            </a:r>
          </a:p>
          <a:p>
            <a:pPr lvl="1">
              <a:defRPr sz="1300"/>
            </a:pPr>
            <a:r>
              <a:t>  - Step 3: Compute SVI = (30% Voice) + (35% Text) + (20% Crime) + (15% Isolation).</a:t>
            </a:r>
          </a:p>
          <a:p>
            <a:pPr lvl="1">
              <a:defRPr sz="1300"/>
            </a:pPr>
            <a:r>
              <a:t>  - Step 4: SVI &gt;= 76 triggers 112 Police ERSS Webhook + Tele-MANAS Doctor Bridge.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500" b="1">
                <a:solidFill>
                  <a:srgbClr val="1F2937"/>
                </a:solidFill>
              </a:defRPr>
            </a:pPr>
            <a:r>
              <a:t>TECHNICAL ARCHITECTURE &amp; METHODOLOGY</a:t>
            </a:r>
            <a:endParaRPr lang="en-US" dirty="0">
              <a:solidFill>
                <a:schemeClr val="bg1"/>
              </a:solidFill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Technology Stack Used:</a:t>
            </a:r>
          </a:p>
          <a:p>
            <a:pPr lvl="1">
              <a:defRPr sz="1300"/>
            </a:pPr>
            <a:r>
              <a:t>  - Backend &amp; Telephony: Node.js, Express, RTSP/WebRTC SIP Stream Receiver, WebSockets.</a:t>
            </a:r>
          </a:p>
          <a:p>
            <a:pPr lvl="1">
              <a:defRPr sz="1300"/>
            </a:pPr>
            <a:r>
              <a:t>  - Voice &amp; Speech Analytics: Web Audio API, Librosa (F0 Pitch Variance, Jitter, Pause Ratio).</a:t>
            </a:r>
          </a:p>
          <a:p>
            <a:pPr lvl="1">
              <a:defRPr sz="1300"/>
            </a:pPr>
            <a:r>
              <a:t>  - NLP &amp; AI Models: Fine-tuned IndicBERT, Whisper ASR, Named Entity Recognition (NER).</a:t>
            </a:r>
          </a:p>
          <a:p>
            <a:pPr lvl="1">
              <a:defRPr sz="1300"/>
            </a:pPr>
            <a:r>
              <a:t>  - Frontend &amp; GIS: HTML5 Glassmorphism, Leaflet.js Heatmap, Chart.js Analytics.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Implementation Methodology:</a:t>
            </a:r>
          </a:p>
          <a:p>
            <a:pPr lvl="1">
              <a:defRPr sz="1300"/>
            </a:pPr>
            <a:r>
              <a:t>  - Step 1: Ingest live 20ms audio buffer from 14566 Govt PBX Telephony gateway.</a:t>
            </a:r>
          </a:p>
          <a:p>
            <a:pPr lvl="1">
              <a:defRPr sz="1300"/>
            </a:pPr>
            <a:r>
              <a:t>  - Step 2: Dual-pass extraction (Acoustic Biomarkers + Multilingual Text Parsing).</a:t>
            </a:r>
          </a:p>
          <a:p>
            <a:pPr lvl="1">
              <a:defRPr sz="1300"/>
            </a:pPr>
            <a:r>
              <a:t>  - Step 3: Compute SVI = (30% Voice) + (35% Text) + (20% Crime) + (15% Isolation).</a:t>
            </a:r>
          </a:p>
          <a:p>
            <a:pPr lvl="1">
              <a:defRPr sz="1300"/>
            </a:pPr>
            <a:r>
              <a:t>  - Step 4: SVI &gt;= 76 triggers 112 Police ERSS Webhook + Tele-MANAS Doctor Bridge.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TECHNICAL ARCHITECTURE &amp; METHODOLOGY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Technology Stack Used:</a:t>
            </a:r>
          </a:p>
          <a:p>
            <a:pPr lvl="1">
              <a:defRPr sz="1300"/>
            </a:pPr>
            <a:r>
              <a:t>  - Backend &amp; Telephony: Node.js, Express, RTSP/WebRTC SIP Stream Receiver, WebSockets.</a:t>
            </a:r>
          </a:p>
          <a:p>
            <a:pPr lvl="1">
              <a:defRPr sz="1300"/>
            </a:pPr>
            <a:r>
              <a:t>  - Voice &amp; Speech Analytics: Web Audio API, Librosa (F0 Pitch Variance, Jitter, Pause Ratio).</a:t>
            </a:r>
          </a:p>
          <a:p>
            <a:pPr lvl="1">
              <a:defRPr sz="1300"/>
            </a:pPr>
            <a:r>
              <a:t>  - NLP &amp; AI Models: Fine-tuned IndicBERT, Whisper ASR, Named Entity Recognition (NER).</a:t>
            </a:r>
          </a:p>
          <a:p>
            <a:pPr lvl="1">
              <a:defRPr sz="1300"/>
            </a:pPr>
            <a:r>
              <a:t>  - Frontend &amp; GIS: HTML5 Glassmorphism, Leaflet.js Heatmap, Chart.js Analytics.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Implementation Methodology:</a:t>
            </a:r>
          </a:p>
          <a:p>
            <a:pPr lvl="1">
              <a:defRPr sz="1300"/>
            </a:pPr>
            <a:r>
              <a:t>  - Step 1: Ingest live 20ms audio buffer from 14566 Govt PBX Telephony gateway.</a:t>
            </a:r>
          </a:p>
          <a:p>
            <a:pPr lvl="1">
              <a:defRPr sz="1300"/>
            </a:pPr>
            <a:r>
              <a:t>  - Step 2: Dual-pass extraction (Acoustic Biomarkers + Multilingual Text Parsing).</a:t>
            </a:r>
          </a:p>
          <a:p>
            <a:pPr lvl="1">
              <a:defRPr sz="1300"/>
            </a:pPr>
            <a:r>
              <a:t>  - Step 3: Compute SVI = (30% Voice) + (35% Text) + (20% Crime) + (15% Isolation).</a:t>
            </a:r>
          </a:p>
          <a:p>
            <a:pPr lvl="1">
              <a:defRPr sz="1300"/>
            </a:pPr>
            <a:r>
              <a:t>  - Step 4: SVI &gt;= 76 triggers 112 Police ERSS Webhook + Tele-MANAS Doctor Bridge.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1">
                <a:solidFill>
                  <a:srgbClr val="0B2A66"/>
                </a:solidFill>
              </a:defRPr>
            </a:pPr>
            <a:r>
              <a:t>FEASIBILITY AND VIABILITY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F2937"/>
                </a:solidFill>
              </a:defRPr>
            </a:pPr>
            <a:r>
              <a:t>FEASIBILITY, RISK ANALYSIS &amp; MITIGATION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Feasibility Analysis:</a:t>
            </a:r>
          </a:p>
          <a:p>
            <a:pPr lvl="1">
              <a:defRPr sz="1300"/>
            </a:pPr>
            <a:r>
              <a:t>  - Technical: Uses standard SIP/RTSP protocols fully compatible with NIC &amp; Govt telephony.</a:t>
            </a:r>
          </a:p>
          <a:p>
            <a:pPr lvl="1">
              <a:defRPr sz="1300"/>
            </a:pPr>
            <a:r>
              <a:t>  - Operational: Operator HUD displays live stress meter &amp; prompts without adding manual load.</a:t>
            </a:r>
          </a:p>
          <a:p>
            <a:pPr lvl="1">
              <a:defRPr sz="1300"/>
            </a:pPr>
            <a:r>
              <a:t>  - Economic: Lightweight API microservices architecture with minimal infrastructure cost.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Challenges &amp; Risk Mitigation:</a:t>
            </a:r>
          </a:p>
          <a:p>
            <a:pPr lvl="1">
              <a:defRPr sz="1300"/>
            </a:pPr>
            <a:r>
              <a:t>  - Risk 1: High background noise &amp; poor mobile call quality -&gt; Solved via WebRTC Noise Filters.</a:t>
            </a:r>
          </a:p>
          <a:p>
            <a:pPr lvl="1">
              <a:defRPr sz="1300"/>
            </a:pPr>
            <a:r>
              <a:t>  - Risk 2: Multilingual Indian dialects -&gt; Solved via Indic-Bhashini speech model integration.</a:t>
            </a:r>
          </a:p>
          <a:p>
            <a:pPr lvl="1">
              <a:defRPr sz="1300"/>
            </a:pPr>
            <a:r>
              <a:t>  - Risk 3: Data Privacy &amp; DPDP Act 2023 -&gt; Solved via In-Memory Audio Extraction (no raw voice stored).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FEASIBILITY, RISK ANALYSIS &amp; MITIGATION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Feasibility Analysis:</a:t>
            </a:r>
          </a:p>
          <a:p>
            <a:pPr lvl="1">
              <a:defRPr sz="1300"/>
            </a:pPr>
            <a:r>
              <a:t>  - Technical: Uses standard SIP/RTSP protocols fully compatible with NIC &amp; Govt telephony.</a:t>
            </a:r>
          </a:p>
          <a:p>
            <a:pPr lvl="1">
              <a:defRPr sz="1300"/>
            </a:pPr>
            <a:r>
              <a:t>  - Operational: Operator HUD displays live stress meter &amp; prompts without adding manual load.</a:t>
            </a:r>
          </a:p>
          <a:p>
            <a:pPr lvl="1">
              <a:defRPr sz="1300"/>
            </a:pPr>
            <a:r>
              <a:t>  - Economic: Lightweight API microservices architecture with minimal infrastructure cost.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Challenges &amp; Risk Mitigation:</a:t>
            </a:r>
          </a:p>
          <a:p>
            <a:pPr lvl="1">
              <a:defRPr sz="1300"/>
            </a:pPr>
            <a:r>
              <a:t>  - Risk 1: High background noise &amp; poor mobile call quality -&gt; Solved via WebRTC Noise Filters.</a:t>
            </a:r>
          </a:p>
          <a:p>
            <a:pPr lvl="1">
              <a:defRPr sz="1300"/>
            </a:pPr>
            <a:r>
              <a:t>  - Risk 2: Multilingual Indian dialects -&gt; Solved via Indic-Bhashini speech model integration.</a:t>
            </a:r>
          </a:p>
          <a:p>
            <a:pPr lvl="1">
              <a:defRPr sz="1300"/>
            </a:pPr>
            <a:r>
              <a:t>  - Risk 3: Data Privacy &amp; DPDP Act 2023 -&gt; Solved via In-Memory Audio Extraction (no raw voice stored).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1">
                <a:solidFill>
                  <a:srgbClr val="0B2A66"/>
                </a:solidFill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F2937"/>
                </a:solidFill>
              </a:defRPr>
            </a:pPr>
            <a:r>
              <a:t>IMPACT AND BENEFITS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Impact on Target Audience (SC/ST Atrocity Victims):</a:t>
            </a:r>
          </a:p>
          <a:p>
            <a:pPr lvl="1">
              <a:defRPr sz="1300"/>
            </a:pPr>
            <a:r>
              <a:t>  - Zero Delay Response: Instant police (112) &amp; psychiatric care for life-threatening crisis.</a:t>
            </a:r>
          </a:p>
          <a:p>
            <a:pPr lvl="1">
              <a:defRPr sz="1300"/>
            </a:pPr>
            <a:r>
              <a:t>  - Trauma Reduction: Empathetic AI guidance de-escalates acute psychological panic.</a:t>
            </a:r>
          </a:p>
          <a:p>
            <a:pPr lvl="1">
              <a:defRPr sz="1300"/>
            </a:pPr>
            <a:r>
              <a:t>  - Equal Access: Multi-lingual voice interface supports illiterate &amp; rural victims.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Key Solution Benefits:</a:t>
            </a:r>
          </a:p>
          <a:p>
            <a:pPr lvl="1">
              <a:defRPr sz="1300"/>
            </a:pPr>
            <a:r>
              <a:t>  - Social Impact: Strengthens SC/ST (Prevention of Atrocities) Act enforcement.</a:t>
            </a:r>
          </a:p>
          <a:p>
            <a:pPr lvl="1">
              <a:defRPr sz="1300"/>
            </a:pPr>
            <a:r>
              <a:t>  - Resource Allocation: Prioritizes limited legal aid (DLSA) &amp; doctors by risk index.</a:t>
            </a:r>
          </a:p>
          <a:p>
            <a:pPr lvl="1">
              <a:defRPr sz="1300"/>
            </a:pPr>
            <a:r>
              <a:t>  - Policy Intelligence: All-India MoSJE Heatmap highlights atrocity vulnerability clusters.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IMPACT AND BENEFITS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Impact on Target Audience (SC/ST Atrocity Victims):</a:t>
            </a:r>
          </a:p>
          <a:p>
            <a:pPr lvl="1">
              <a:defRPr sz="1300"/>
            </a:pPr>
            <a:r>
              <a:t>  - Zero Delay Response: Instant police (112) &amp; psychiatric care for life-threatening crisis.</a:t>
            </a:r>
          </a:p>
          <a:p>
            <a:pPr lvl="1">
              <a:defRPr sz="1300"/>
            </a:pPr>
            <a:r>
              <a:t>  - Trauma Reduction: Empathetic AI guidance de-escalates acute psychological panic.</a:t>
            </a:r>
          </a:p>
          <a:p>
            <a:pPr lvl="1">
              <a:defRPr sz="1300"/>
            </a:pPr>
            <a:r>
              <a:t>  - Equal Access: Multi-lingual voice interface supports illiterate &amp; rural victims.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Key Solution Benefits:</a:t>
            </a:r>
          </a:p>
          <a:p>
            <a:pPr lvl="1">
              <a:defRPr sz="1300"/>
            </a:pPr>
            <a:r>
              <a:t>  - Social Impact: Strengthens SC/ST (Prevention of Atrocities) Act enforcement.</a:t>
            </a:r>
          </a:p>
          <a:p>
            <a:pPr lvl="1">
              <a:defRPr sz="1300"/>
            </a:pPr>
            <a:r>
              <a:t>  - Resource Allocation: Prioritizes limited legal aid (DLSA) &amp; doctors by risk index.</a:t>
            </a:r>
          </a:p>
          <a:p>
            <a:pPr lvl="1">
              <a:defRPr sz="1300"/>
            </a:pPr>
            <a:r>
              <a:t>  - Policy Intelligence: All-India MoSJE Heatmap highlights atrocity vulnerability clusters.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1">
                <a:solidFill>
                  <a:srgbClr val="0B2A66"/>
                </a:solidFill>
              </a:defRPr>
            </a:pPr>
            <a:r>
              <a:t>RESEARCH AND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F2937"/>
                </a:solidFill>
              </a:defRPr>
            </a:pPr>
            <a:r>
              <a:t>RESEARCH AND REFERENCES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Regulatory &amp; Legal Frameworks:</a:t>
            </a:r>
          </a:p>
          <a:p>
            <a:pPr lvl="1">
              <a:defRPr sz="1300"/>
            </a:pPr>
            <a:r>
              <a:t>  - SC/ST (Prevention of Atrocities) Act 1989 / 2015 Amendment (Sec 15A Witness Protection).</a:t>
            </a:r>
          </a:p>
          <a:p>
            <a:pPr lvl="1">
              <a:defRPr sz="1300"/>
            </a:pPr>
            <a:r>
              <a:t>  - Tele-MANAS Mental Health Helpline Guidelines (Ministry of Health &amp; Family Welfare).</a:t>
            </a:r>
          </a:p>
          <a:p>
            <a:pPr lvl="1">
              <a:defRPr sz="1300"/>
            </a:pPr>
            <a:r>
              <a:t>  - Digital Personal Data Protection (DPDP) Act 2023 Compliance &amp; Consent Standards.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Technical Research &amp; Datasets:</a:t>
            </a:r>
          </a:p>
          <a:p>
            <a:pPr lvl="1">
              <a:defRPr sz="1300"/>
            </a:pPr>
            <a:r>
              <a:t>  - DSM-5 / PCL-5 Acute Stress Reaction &amp; PTSD Triaging Metrics.</a:t>
            </a:r>
          </a:p>
          <a:p>
            <a:pPr lvl="1">
              <a:defRPr sz="1300"/>
            </a:pPr>
            <a:r>
              <a:t>  - Librosa &amp; Web Audio API Acoustic Prosody Feature Extraction Specifications.</a:t>
            </a:r>
          </a:p>
          <a:p>
            <a:pPr lvl="1">
              <a:defRPr sz="1300"/>
            </a:pPr>
            <a:r>
              <a:t>  - IndicBERT &amp; AI4Bharat Bhashini Multilingual Speech Repositories.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Working Prototype Demo:</a:t>
            </a:r>
          </a:p>
          <a:p>
            <a:pPr lvl="1">
              <a:defRPr sz="1300"/>
            </a:pPr>
            <a:r>
              <a:t>  - Live Prototype Application: http://localhost:3000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RESEARCH AND REFERENCES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Regulatory &amp; Legal Frameworks:</a:t>
            </a:r>
          </a:p>
          <a:p>
            <a:pPr lvl="1">
              <a:defRPr sz="1300"/>
            </a:pPr>
            <a:r>
              <a:t>  - SC/ST (Prevention of Atrocities) Act 1989 / 2015 Amendment (Sec 15A Witness Protection).</a:t>
            </a:r>
          </a:p>
          <a:p>
            <a:pPr lvl="1">
              <a:defRPr sz="1300"/>
            </a:pPr>
            <a:r>
              <a:t>  - Tele-MANAS Mental Health Helpline Guidelines (Ministry of Health &amp; Family Welfare).</a:t>
            </a:r>
          </a:p>
          <a:p>
            <a:pPr lvl="1">
              <a:defRPr sz="1300"/>
            </a:pPr>
            <a:r>
              <a:t>  - Digital Personal Data Protection (DPDP) Act 2023 Compliance &amp; Consent Standards.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Technical Research &amp; Datasets:</a:t>
            </a:r>
          </a:p>
          <a:p>
            <a:pPr lvl="1">
              <a:defRPr sz="1300"/>
            </a:pPr>
            <a:r>
              <a:t>  - DSM-5 / PCL-5 Acute Stress Reaction &amp; PTSD Triaging Metrics.</a:t>
            </a:r>
          </a:p>
          <a:p>
            <a:pPr lvl="1">
              <a:defRPr sz="1300"/>
            </a:pPr>
            <a:r>
              <a:t>  - Librosa &amp; Web Audio API Acoustic Prosody Feature Extraction Specifications.</a:t>
            </a:r>
          </a:p>
          <a:p>
            <a:pPr lvl="1">
              <a:defRPr sz="1300"/>
            </a:pPr>
            <a:r>
              <a:t>  - IndicBERT &amp; AI4Bharat Bhashini Multilingual Speech Repositories.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Working Prototype Demo:</a:t>
            </a:r>
          </a:p>
          <a:p>
            <a:pPr lvl="1">
              <a:defRPr sz="1300"/>
            </a:pPr>
            <a:r>
              <a:t>  - Live Prototype Application: http://localhost:3000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